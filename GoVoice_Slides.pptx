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[Bìa · ~30s]</a:t>
            </a:r>
          </a:p>
          <a:p/>
          <a:p>
            <a:r>
              <a:t>Em xin chào thầy cô và các bạn. Em là Nhân, trình bày đề tài GoVoice — trợ lý giọng nói tiếng Việt</a:t>
            </a:r>
          </a:p>
          <a:p>
            <a:r>
              <a:t>cho robot chó Unitree Go2. Điểm đặc biệt là toàn hệ thống chạy 100% ngay trên robot, không cần internet.</a:t>
            </a:r>
          </a:p>
          <a:p>
            <a:r>
              <a:t>Hôm nay em tập trung vào ba thứ: dùng những MODEL nào, ghép chúng thành KIẾN TRÚC ra sao, và làm cách</a:t>
            </a:r>
          </a:p>
          <a:p>
            <a:r>
              <a:t>nào để robot phản hồi gần như tức thì — kèm SỐ LIỆU độ trễ cụ thể.</a:t>
            </a:r>
          </a:p>
          <a:p>
            <a:r>
              <a:t>[Nhấn: model · kiến trúc · realtime + số liệu]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[Bài toán · ~40s]</a:t>
            </a:r>
          </a:p>
          <a:p/>
          <a:p>
            <a:r>
              <a:t>Bài toán có hai mục tiêu xung đột. Một là ĐÚNG tuyệt đối — robot là vật thật, hiểu sai hướng hay khoảng</a:t>
            </a:r>
          </a:p>
          <a:p>
            <a:r>
              <a:t>cách là đâm vào người. Hai là NHANH — đợi vài giây mỗi câu thì vô dụng. Mâu thuẫn nằm ở chỗ: LLM thì</a:t>
            </a:r>
          </a:p>
          <a:p>
            <a:r>
              <a:t>thông minh nhưng chậm và hay đoán sai số; còn luật cứng thì nhanh và đúng nhưng không hiểu câu phức.</a:t>
            </a:r>
          </a:p>
          <a:p>
            <a:r>
              <a:t>GoVoice giải bằng cách phối hợp cả hai và tối ưu từng mili-giây.</a:t>
            </a:r>
          </a:p>
          <a:p>
            <a:r>
              <a:t>[Nhấn: đây là cái móc — vừa đúng vừa nhanh]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[Hướng giải quyết · ~40s]</a:t>
            </a:r>
          </a:p>
          <a:p/>
          <a:p>
            <a:r>
              <a:t>Chìa khoá là phân loại câu trước. Khoảng 80% câu thực tế là lệnh đơn hoặc đếm được — "đi thẳng",</a:t>
            </a:r>
          </a:p>
          <a:p>
            <a:r>
              <a:t>"xoay phải hai vòng", "đi A rồi B" — em giải bằng LUẬT, gần như 0 mili-giây, không cần model não nào.</a:t>
            </a:r>
          </a:p>
          <a:p>
            <a:r>
              <a:t>Chỉ khoảng 18% câu khó, mơ hồ hay trò chuyện, mới đưa lên LLM. Đây chính là chìa khoá realtime: né được</a:t>
            </a:r>
          </a:p>
          <a:p>
            <a:r>
              <a:t>LLM cho 82% câu là né được phần lớn độ trễ, vì mỗi lần gọi LLM tốn khoảng 0.8 giây.</a:t>
            </a:r>
          </a:p>
          <a:p>
            <a:r>
              <a:t>[Nhấn: 80% câu không cần model não]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[Các model sử dụng · ~55s]</a:t>
            </a:r>
          </a:p>
          <a:p/>
          <a:p>
            <a:r>
              <a:t>Đây là slide quan trọng để thầy cô nắm rõ em dùng gì. Hệ thống có ba model nhỏ, mỗi model một việc,</a:t>
            </a:r>
          </a:p>
          <a:p>
            <a:r>
              <a:t>tất cả chạy offline. Thứ nhất, để NGHE, em dùng PhoWhisper bản small — đây là model nhận dạng giọng nói</a:t>
            </a:r>
          </a:p>
          <a:p>
            <a:r>
              <a:t>tiếng Việt của VinAI, khoảng 244 triệu tham số, nền tảng là Whisper. Thứ hai, để NGHĨ, em dùng Qwen2.5</a:t>
            </a:r>
          </a:p>
          <a:p>
            <a:r>
              <a:t>phiên bản 1.5 tỉ tham số của Alibaba, mà em đã fine-tune lại rồi xuất ra định dạng GGUF chạy bằng llama.cpp.</a:t>
            </a:r>
          </a:p>
          <a:p>
            <a:r>
              <a:t>Thứ ba, để NÓI, em dùng Piper với giọng tiếng Việt. Còn webrtcvad chỉ là thuật toán cắt câu, không phải AI.</a:t>
            </a:r>
          </a:p>
          <a:p>
            <a:r>
              <a:t>Điểm em muốn nhấn mạnh: 82% câu KHÔNG hề đụng tới model não Qwen — chúng được giải bằng luật. Qwen chỉ</a:t>
            </a:r>
          </a:p>
          <a:p>
            <a:r>
              <a:t>nhảy vào 18% câu khó. Đây gọi là kiến trúc neuro-symbolic, lai giữa luật và học máy.</a:t>
            </a:r>
          </a:p>
          <a:p>
            <a:r>
              <a:t>[Nhấn: 3 model + 82% không cần Qwen]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[Kiến trúc &amp; luồng dữ liệu · ~55s]</a:t>
            </a:r>
          </a:p>
          <a:p/>
          <a:p>
            <a:r>
              <a:t>Đây là toàn cảnh đường đi một câu nói. Mic thu, webrtcvad cắt ra từng câu. STT — tức PhoWhisper trên GPU</a:t>
            </a:r>
          </a:p>
          <a:p>
            <a:r>
              <a:t>— chuyển thành chữ. Em chuẩn hóa bằng cách bỏ dấu, rồi kiểm tra khẩn cấp: nghe "dừng lại" là dừng ngay.</a:t>
            </a:r>
          </a:p>
          <a:p>
            <a:r>
              <a:t>Phần lõi là định tuyến, dừng ở tầng đầu tiên giải được: 82% câu đi qua nhánh LUẬT — Reflex cộng Combo —</a:t>
            </a:r>
          </a:p>
          <a:p>
            <a:r>
              <a:t>chỉ tốn 0.07 mili-giây và không dùng model nào; 18% còn lại mới qua LLM Qwen. Sau đó plan đi qua bộ kiểm</a:t>
            </a:r>
          </a:p>
          <a:p>
            <a:r>
              <a:t>chứng và lớp an toàn, rồi bộ thực thi bất đồng bộ điều khiển robot, đồng thời Piper đọc câu trả lời ra loa.</a:t>
            </a:r>
          </a:p>
          <a:p>
            <a:r>
              <a:t>Toàn bộ chạy trên Jetson trong robot; mic và loa ra vào qua cầu WebRTC, không bước nào gọi internet.</a:t>
            </a:r>
          </a:p>
          <a:p>
            <a:r>
              <a:t>[Nhấn: 2 nhánh luật/LLM + tất cả on-board]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[STT — nút thắt thời gian · ~50s]</a:t>
            </a:r>
          </a:p>
          <a:p/>
          <a:p>
            <a:r>
              <a:t>Tầng nghe dùng PhoWhisper, và đây chính là chỗ tốn thời gian nhất nên em nói kỹ. Em tăng tốc bằng</a:t>
            </a:r>
          </a:p>
          <a:p>
            <a:r>
              <a:t>CTranslate2 lượng tử fp16 cộng faster-whisper, chạy trên GPU của Jetson. Có hai lá chắn chống nghe sai:</a:t>
            </a:r>
          </a:p>
          <a:p>
            <a:r>
              <a:t>mớm trước từ vựng lệnh, và lọc ảo giác bằng hai ngưỡng xác suất. Vì sao đây là nút thắt? Vì encoder của</a:t>
            </a:r>
          </a:p>
          <a:p>
            <a:r>
              <a:t>Whisper phải xử lý cả cửa sổ 30 giây âm thanh, nên mất khoảng 1.8 giây mỗi câu — chiếm tới 80% tổng độ</a:t>
            </a:r>
          </a:p>
          <a:p>
            <a:r>
              <a:t>trễ. Trước đây chạy CPU mất 2 đến 4 giây; đưa lên GPU là cải tiến realtime lớn nhất của em.</a:t>
            </a:r>
          </a:p>
          <a:p>
            <a:r>
              <a:t>[Nhấn: 1.8s = 80% độ trễ → đây là bottleneck]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[Nhận &amp; phân tích lệnh (gọn) · ~40s]</a:t>
            </a:r>
          </a:p>
          <a:p/>
          <a:p>
            <a:r>
              <a:t>Phần phân tích câu em xin nói tóm tắt. Sau khi có câu chữ đã bỏ dấu, hệ thống làm bốn bước: một là nhận</a:t>
            </a:r>
          </a:p>
          <a:p>
            <a:r>
              <a:t>câu; hai là chia câu tại các từ nối như "rồi", "sau đó"; ba là phân tích từng vế — tìm động từ, con số</a:t>
            </a:r>
          </a:p>
          <a:p>
            <a:r>
              <a:t>kèm đơn vị mét giây độ vòng, và hướng trái phải; bốn là ghép thành chuỗi hành động đúng thứ tự. Ví dụ</a:t>
            </a:r>
          </a:p>
          <a:p>
            <a:r>
              <a:t>"đi thẳng 3 mét rồi xoay phải" chia thành hai vế, mỗi vế giải bằng luật, tổng cộng chỉ 0.07 mili-giây.</a:t>
            </a:r>
          </a:p>
          <a:p>
            <a:r>
              <a:t>Nếu một vế không khớp luật thì giao cả câu cho LLM cho an toàn. Các quy tắc tinh tế hơn em sẽ nói thêm</a:t>
            </a:r>
          </a:p>
          <a:p>
            <a:r>
              <a:t>nếu thầy cô quan tâm.</a:t>
            </a:r>
          </a:p>
          <a:p>
            <a:r>
              <a:t>[Nhấn: nói nhanh phần này — chỉ minh hoạ cơ chế]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[LLM — Qwen2.5-1.5B · ~45s]</a:t>
            </a:r>
          </a:p>
          <a:p/>
          <a:p>
            <a:r>
              <a:t>Với 18% câu khó, em dùng LLM là Qwen2.5 1.5 tỉ tham số đã fine-tune. Có ba điểm kỹ thuật. Thứ nhất,</a:t>
            </a:r>
          </a:p>
          <a:p>
            <a:r>
              <a:t>model nhỏ chuyên việc: vì nó chỉ phải sinh JSON lệnh robot nên 1.5 tỉ tham số là đủ, không cần model lớn.</a:t>
            </a:r>
          </a:p>
          <a:p>
            <a:r>
              <a:t>Thứ hai, em dùng văn phạm GBNF để ép model chỉ sinh JSON đúng cấu trúc — không lỗi parse, không lệnh rác,</a:t>
            </a:r>
          </a:p>
          <a:p>
            <a:r>
              <a:t>và quan trọng là ít token hơn nên nhanh hơn. Thứ ba, cache_prompt giữ lại bộ nhớ đệm của prompt nên mỗi</a:t>
            </a:r>
          </a:p>
          <a:p>
            <a:r>
              <a:t>câu chỉ xử lý phần mới. Kết quả khoảng 780 mili-giây mỗi câu, và nhớ là chỉ 18% câu phải trả chi phí này.</a:t>
            </a:r>
          </a:p>
          <a:p>
            <a:r>
              <a:t>[Nhấn: model nhỏ + GBNF vừa đúng vừa nhanh]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[TTS — Piper streaming · ~35s]</a:t>
            </a:r>
          </a:p>
          <a:p/>
          <a:p>
            <a:r>
              <a:t>Tầng nói dùng Piper với giọng tiếng Việt. Điểm hay là chế độ streaming: em vừa tổng hợp vừa phát từng</a:t>
            </a:r>
          </a:p>
          <a:p>
            <a:r>
              <a:t>đoạn, nên tiếng bật ra chỉ sau khoảng 100 mili-giây, không phải đợi sinh xong cả câu. Dù câu dài bao nhiêu</a:t>
            </a:r>
          </a:p>
          <a:p>
            <a:r>
              <a:t>thì robot vẫn lên tiếng gần như ngay lập tức. Tiếng đi ra loa của robot qua cầu WebRTC.</a:t>
            </a:r>
          </a:p>
          <a:p>
            <a:r>
              <a:t>[Nhấn: 100ms — phát ngay không đợi cả câu]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[Chiến lược realtime · ~50s]</a:t>
            </a:r>
          </a:p>
          <a:p/>
          <a:p>
            <a:r>
              <a:t>Slide này tổng hợp sáu đòn em dùng để cắt độ trễ. Một, đưa STT lên GPU, từ 2-4 giây xuống 1.8 giây.</a:t>
            </a:r>
          </a:p>
          <a:p>
            <a:r>
              <a:t>Hai, né LLM cho 82% câu, dùng luật 0.07 mili-giây thay vì 780. Ba, dùng GBNF để output ngắn, LLM sinh ít</a:t>
            </a:r>
          </a:p>
          <a:p>
            <a:r>
              <a:t>token nên nhanh hơn khi buộc phải dùng. Bốn, cache_prompt bỏ chi phí lặp prompt. Năm, TTS streaming phát</a:t>
            </a:r>
          </a:p>
          <a:p>
            <a:r>
              <a:t>sau 100 mili-giây. Sáu, thực thi bất đồng bộ để robot làm song song lúc nghe câu kế. Triết lý chung là ở</a:t>
            </a:r>
          </a:p>
          <a:p>
            <a:r>
              <a:t>mỗi tầng đều hỏi: có cách nào không phải đợi không — GPU thay CPU, luật thay LLM, streaming thay batch,</a:t>
            </a:r>
          </a:p>
          <a:p>
            <a:r>
              <a:t>song song thay tuần tự.</a:t>
            </a:r>
          </a:p>
          <a:p>
            <a:r>
              <a:t>[Nhấn: đây là phần "hướng giải quyết realtime" thầy cô hỏi]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[Số liệu độ trễ từng tầng · ~55s]</a:t>
            </a:r>
          </a:p>
          <a:p/>
          <a:p>
            <a:r>
              <a:t>Đây là bảng số liệu quan trọng nhất, đo từ lúc người nói xong tới lúc Gô bắt đầu đáp. Bước cắt câu chờ</a:t>
            </a:r>
          </a:p>
          <a:p>
            <a:r>
              <a:t>im lặng mất khoảng 270 mili-giây. Nhận dạng giọng nói bằng PhoWhisper trên GPU mất khoảng 1800 mili-giây</a:t>
            </a:r>
          </a:p>
          <a:p>
            <a:r>
              <a:t>— đây là nút thắt rõ ràng. Lập kế hoạch bằng luật cho 82% câu chỉ 0.07 mili-giây, còn nếu phải dùng LLM</a:t>
            </a:r>
          </a:p>
          <a:p>
            <a:r>
              <a:t>thì thêm khoảng 780. Phát tiếng đầu mất 100 mili-giây. Cộng lại: câu thường khoảng 2.2 giây, câu khó có</a:t>
            </a:r>
          </a:p>
          <a:p>
            <a:r>
              <a:t>LLM khoảng 3 giây. Và lưu ý robot bắt đầu cử động song song với lúc Gô nói nhờ cơ chế bất đồng bộ, nên</a:t>
            </a:r>
          </a:p>
          <a:p>
            <a:r>
              <a:t>không cộng dồn thêm thời gian.</a:t>
            </a:r>
          </a:p>
          <a:p>
            <a:r>
              <a:t>[Nhấn: đọc rõ từng con số — đây là slide số liệu]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[Timeline end-to-end · ~45s]</a:t>
            </a:r>
          </a:p>
          <a:p/>
          <a:p>
            <a:r>
              <a:t>Slide này minh họa trực quan: nhìn thanh thời gian sẽ thấy STT chiếm gần hết, ba phần còn lại gần như</a:t>
            </a:r>
          </a:p>
          <a:p>
            <a:r>
              <a:t>không đáng kể. Câu thường tổng khoảng 2.2 giây, trong đó riêng STT đã 1.8 giây. Câu khó thì có thêm khối</a:t>
            </a:r>
          </a:p>
          <a:p>
            <a:r>
              <a:t>LLM màu tím khoảng 780 mili-giây. Kết luận về realtime là: nếu muốn nhanh hơn nữa thì phải tấn công vào</a:t>
            </a:r>
          </a:p>
          <a:p>
            <a:r>
              <a:t>STT — dùng model nhỏ hơn hoặc tinh chỉnh cửa sổ âm thanh — vì ba phần kia đã gần như tối ưu hết mức rồi.</a:t>
            </a:r>
          </a:p>
          <a:p>
            <a:r>
              <a:t>[Nhấn: STT là chỗ duy nhất còn cải thiện được]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[Async + Safety · ~45s]</a:t>
            </a:r>
          </a:p>
          <a:p/>
          <a:p>
            <a:r>
              <a:t>Hai cơ chế đảm bảo vừa realtime vừa an toàn. Bộ thực thi bất đồng bộ, lấy ý tưởng từ SmolVLA, cho hành</a:t>
            </a:r>
          </a:p>
          <a:p>
            <a:r>
              <a:t>động chạy trong luồng riêng, nên vòng chính vẫn tiếp tục nghe và nhận dạng câu kế — robot không bị điếc</a:t>
            </a:r>
          </a:p>
          <a:p>
            <a:r>
              <a:t>lúc đang làm, và giảm khoảng 30% thời gian chuỗi lệnh. Lớp an toàn thì kẹp vận tốc, chặn động tác nguy</a:t>
            </a:r>
          </a:p>
          <a:p>
            <a:r>
              <a:t>hiểm, tự đứng dậy trước khi đi, và lệnh dừng lại có ưu tiên tuyệt đối. Vì sao tách thực thi ra luồng riêng?</a:t>
            </a:r>
          </a:p>
          <a:p>
            <a:r>
              <a:t>Để bước nghe và nghĩ tốn khoảng 2 giây không bị khoá trong lúc robot đang cử động, nhờ vậy cảm giác mượt.</a:t>
            </a:r>
          </a:p>
          <a:p>
            <a:r>
              <a:t>[Nhấn: tách luồng = mượt; safety = clamp + chặn]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[Fine-tune &amp; Dataset · ~40s]</a:t>
            </a:r>
          </a:p>
          <a:p/>
          <a:p>
            <a:r>
              <a:t>Về huấn luyện model não. Em dùng QLoRA 4-bit, chỉ train một adapter nhỏ trên một GPU RTX 4060 trong</a:t>
            </a:r>
          </a:p>
          <a:p>
            <a:r>
              <a:t>khoảng 70 phút, rồi gộp và xuất ra GGUF chạy trên Jetson. Hiệu quả rõ rệt: Qwen gốc chỉ 5.7%, sau fine-tune</a:t>
            </a:r>
          </a:p>
          <a:p>
            <a:r>
              <a:t>lên 61.7%. Dữ liệu khoảng 4.700 mẫu, sinh bằng luật với seed cố định nên tái lập 100%, nhãn vàng dùng đúng</a:t>
            </a:r>
          </a:p>
          <a:p>
            <a:r>
              <a:t>quy ước tốc độ và cùng prompt như lúc chạy, cộng thêm augment mất dấu để mô phỏng lỗi STT. Mấu chốt là</a:t>
            </a:r>
          </a:p>
          <a:p>
            <a:r>
              <a:t>model học đúng luật chơi mà hệ thống thực thi nên không lệch giữa lúc train và lúc chạy.</a:t>
            </a:r>
          </a:p>
          <a:p>
            <a:r>
              <a:t>[Nhấn: 5.7 → 61.7 nhờ fine-tune đúng quy ước]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[Kết quả · ~50s]</a:t>
            </a:r>
          </a:p>
          <a:p/>
          <a:p>
            <a:r>
              <a:t>Đây là kết quả tổng. Bảng bên trái là ablation trên 300 câu test: Qwen gốc 5.7%, sau fine-tune 61.7%,</a:t>
            </a:r>
          </a:p>
          <a:p>
            <a:r>
              <a:t>và khi ghép đầy đủ hệ thống thì lên 91%. Điều đáng nói là fine-tune đóng góp 56 điểm, còn kiến trúc</a:t>
            </a:r>
          </a:p>
          <a:p>
            <a:r>
              <a:t>neuro-symbolic đóng góp thêm 29.3 điểm — gần ngang nhau, chứng minh giá trị của hướng lai luật và học máy.</a:t>
            </a:r>
          </a:p>
          <a:p>
            <a:r>
              <a:t>Bên phải: 82% câu được giải bằng luật chỉ 0.07 mili-giây không cần LLM; định tuyến cụ thể là Combo 222 câu,</a:t>
            </a:r>
          </a:p>
          <a:p>
            <a:r>
              <a:t>Reflex 23, LLM 55. Về tốc độ: LLM trung bình 780 mili-giây, STT 1.8 giây, TTS 100 mili-giây.</a:t>
            </a:r>
          </a:p>
          <a:p>
            <a:r>
              <a:t>[Nhấn: 5.7 → 61.7 → 91; và 82% không cần LLM]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[Kết luận · ~40s]</a:t>
            </a:r>
          </a:p>
          <a:p/>
          <a:p>
            <a:r>
              <a:t>Tóm lại, triết lý của GoVoice là đúng bằng luật, nhanh bằng định tuyến thông minh cộng GPU, và linh hoạt</a:t>
            </a:r>
          </a:p>
          <a:p>
            <a:r>
              <a:t>bằng LLM khi cần. Em đạt được: ba model nhỏ là PhoWhisper, Qwen2.5-1.5B và Piper chạy 100% trên robot;</a:t>
            </a:r>
          </a:p>
          <a:p>
            <a:r>
              <a:t>phản hồi khoảng 2.2 giây cho câu thường và 3 giây cho câu khó; 91% chính xác với 82% câu không cần LLM.</a:t>
            </a:r>
          </a:p>
          <a:p>
            <a:r>
              <a:t>Hướng tăng tốc tiếp theo là tấn công nút thắt STT, thử model 0.5 tỉ tham số để LLM nhanh gấp đôi, đo WER</a:t>
            </a:r>
          </a:p>
          <a:p>
            <a:r>
              <a:t>và triển khai không dây.</a:t>
            </a:r>
          </a:p>
          <a:p>
            <a:r>
              <a:t>[Nhấn: nhắc lại triết lý 3 vế + con số chính]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[Cảm ơn &amp; Hỏi đáp · ~20s]</a:t>
            </a:r>
          </a:p>
          <a:p/>
          <a:p>
            <a:r>
              <a:t>Phần trình bày của em đến đây là hết. Em xin cảm ơn thầy cô và các bạn, rất mong nhận được câu hỏi và</a:t>
            </a:r>
          </a:p>
          <a:p>
            <a:r>
              <a:t>góp ý.</a:t>
            </a:r>
          </a:p>
          <a:p>
            <a:r>
              <a:t>[Câu hỏi hay gặp: Vì sao không dùng cloud? Vì sao chọn 1.5B? Bottleneck ở đâu (STT)? Combo khác gì để LLM</a:t>
            </a:r>
          </a:p>
          <a:p>
            <a:r>
              <a:t>tự chẻ? Số liệu đo trên tập nào (300 câu test chưa train)?]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3258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🐕🎙️  KIẾN TRÚC · MODEL · GIẢI PHÁP REALTIME · HCMUTE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057400"/>
            <a:ext cx="110642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900" b="1">
                <a:solidFill>
                  <a:srgbClr val="EAF2FF"/>
                </a:solidFill>
                <a:latin typeface="Segoe UI"/>
              </a:rPr>
              <a:t>GoVoice — Trợ lý giọng nói </a:t>
            </a:r>
            <a:r>
              <a:rPr sz="2900" b="1">
                <a:solidFill>
                  <a:srgbClr val="22D3EE"/>
                </a:solidFill>
                <a:latin typeface="Segoe UI"/>
              </a:rPr>
              <a:t>tiếng Việt</a:t>
            </a:r>
            <a:r>
              <a:rPr sz="2900" b="1">
                <a:solidFill>
                  <a:srgbClr val="EAF2FF"/>
                </a:solidFill>
                <a:latin typeface="Segoe UI"/>
              </a:rPr>
              <a:t> cho Unitree Go2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900" b="1">
                <a:solidFill>
                  <a:srgbClr val="FB923B"/>
                </a:solidFill>
                <a:latin typeface="Segoe UI"/>
              </a:rPr>
              <a:t>Hệ thống 100% on-board &amp; độ trễ thời gian thực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9319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9FB3D1"/>
                </a:solidFill>
                <a:latin typeface="Segoe UI"/>
              </a:rPr>
              <a:t>Dùng những model nào? Ghép ra sao? Làm cách nào để robot phản hồi gần như tức thì?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5778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9FB3D1"/>
                </a:solidFill>
                <a:latin typeface="Segoe UI"/>
              </a:rPr>
              <a:t>Nolan (Huỳnh Lê Thành Nhân) · Lab ISLab · ĐH Công nghệ Kỹ thuật TP.HCM (tên cũ: Sư phạm Kỹ thuật)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BÀI TOÁN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400" b="1">
                <a:solidFill>
                  <a:srgbClr val="EAF2FF"/>
                </a:solidFill>
                <a:latin typeface="Segoe UI"/>
              </a:rPr>
              <a:t>Hai mục tiêu </a:t>
            </a:r>
            <a:r>
              <a:rPr sz="2400" b="1">
                <a:solidFill>
                  <a:srgbClr val="22D3EE"/>
                </a:solidFill>
                <a:latin typeface="Segoe UI"/>
              </a:rPr>
              <a:t>xung đột</a:t>
            </a:r>
            <a:r>
              <a:rPr sz="2400" b="1">
                <a:solidFill>
                  <a:srgbClr val="EAF2FF"/>
                </a:solidFill>
                <a:latin typeface="Segoe UI"/>
              </a:rPr>
              <a:t>: vừa ĐÚNG vừa NHANH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28800"/>
            <a:ext cx="5486400" cy="1371600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956816"/>
            <a:ext cx="50840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34D399"/>
                </a:solidFill>
                <a:latin typeface="Segoe UI"/>
              </a:rPr>
              <a:t>✓ ĐÚNG tuyệt đối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487168"/>
            <a:ext cx="50840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>
                <a:solidFill>
                  <a:srgbClr val="9FB3D1"/>
                </a:solidFill>
                <a:latin typeface="Segoe UI"/>
              </a:rPr>
              <a:t>•  Robot vật lý — hiểu sai hướng/khoảng cách là đâm vào người/vật.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828800"/>
            <a:ext cx="5486400" cy="1371600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7376" y="1956816"/>
            <a:ext cx="50840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✓ NHANH realtime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7376" y="2487168"/>
            <a:ext cx="50840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>
                <a:solidFill>
                  <a:srgbClr val="9FB3D1"/>
                </a:solidFill>
                <a:latin typeface="Segoe UI"/>
              </a:rPr>
              <a:t>•  Đợi vài giây mỗi câu là vô dụng. Phải phản hồi tức thì.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29000"/>
            <a:ext cx="11155680" cy="1371600"/>
          </a:xfrm>
          <a:prstGeom prst="roundRect">
            <a:avLst/>
          </a:prstGeom>
          <a:solidFill>
            <a:srgbClr val="1C1530"/>
          </a:solidFill>
          <a:ln w="12700">
            <a:solidFill>
              <a:srgbClr val="FB9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3520440"/>
            <a:ext cx="10753344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FB923B"/>
                </a:solidFill>
                <a:latin typeface="Segoe UI"/>
              </a:rPr>
              <a:t>Mâu thuẫn:  </a:t>
            </a:r>
            <a:r>
              <a:rPr sz="1400" b="0">
                <a:solidFill>
                  <a:srgbClr val="EAF2FF"/>
                </a:solidFill>
                <a:latin typeface="Segoe UI"/>
              </a:rPr>
              <a:t>LLM thông minh nhưng chậm + hay đoán sai số; luật cứng thì nhanh + đúng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EAF2FF"/>
                </a:solidFill>
                <a:latin typeface="Segoe UI"/>
              </a:rPr>
              <a:t>nhưng không hiểu câu phức. → GoVoice phối hợp cả hai + tối ưu từng mili-giây.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029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100% on-board (Jetson)   ·   Không internet   ·   3 model nhỏ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4652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FB3D1"/>
                </a:solidFill>
                <a:latin typeface="Segoe UI"/>
              </a:rPr>
              <a:t>GoVoice · HCMUTE · Kiến trúc &amp; Realtime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4652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FB3D1"/>
                </a:solidFill>
                <a:latin typeface="Segoe UI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HƯỚNG GIẢI QUYẾT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300" b="1">
                <a:solidFill>
                  <a:srgbClr val="EAF2FF"/>
                </a:solidFill>
                <a:latin typeface="Segoe UI"/>
              </a:rPr>
              <a:t>Phân loại câu → chỉ "động não" khi </a:t>
            </a:r>
            <a:r>
              <a:rPr sz="2300" b="1">
                <a:solidFill>
                  <a:srgbClr val="FB923B"/>
                </a:solidFill>
                <a:latin typeface="Segoe UI"/>
              </a:rPr>
              <a:t>thật sự cần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28800"/>
            <a:ext cx="5486400" cy="1828800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956816"/>
            <a:ext cx="50840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34D399"/>
                </a:solidFill>
                <a:latin typeface="Segoe UI"/>
              </a:rPr>
              <a:t>⚡ ~80% câu = lệnh đơn/đếm được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487168"/>
            <a:ext cx="508406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>
                <a:solidFill>
                  <a:srgbClr val="9FB3D1"/>
                </a:solidFill>
                <a:latin typeface="Segoe UI"/>
              </a:rPr>
              <a:t>•  "đi thẳng", "xoay phải 2 vòng", "đi A rồi B".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>
                <a:solidFill>
                  <a:srgbClr val="9FB3D1"/>
                </a:solidFill>
                <a:latin typeface="Segoe UI"/>
              </a:rPr>
              <a:t>•  → giải bằng LUẬT, ~0ms, không cần model não.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828800"/>
            <a:ext cx="5486400" cy="1828800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7376" y="1956816"/>
            <a:ext cx="50840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B923B"/>
                </a:solidFill>
                <a:latin typeface="Segoe UI"/>
              </a:rPr>
              <a:t>🧠 ~18% câu khó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7376" y="2487168"/>
            <a:ext cx="508406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>
                <a:solidFill>
                  <a:srgbClr val="9FB3D1"/>
                </a:solidFill>
                <a:latin typeface="Segoe UI"/>
              </a:rPr>
              <a:t>•  Mơ hồ, trò chuyện, tổ hợp lạ.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>
                <a:solidFill>
                  <a:srgbClr val="9FB3D1"/>
                </a:solidFill>
                <a:latin typeface="Segoe UI"/>
              </a:rPr>
              <a:t>•  → FAQ ngữ nghĩa lo hỏi-đáp; chỉ câu còn lại mới dùng LLM.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931920"/>
            <a:ext cx="11155680" cy="1463040"/>
          </a:xfrm>
          <a:prstGeom prst="roundRect">
            <a:avLst/>
          </a:prstGeom>
          <a:solidFill>
            <a:srgbClr val="1C1530"/>
          </a:solidFill>
          <a:ln w="12700">
            <a:solidFill>
              <a:srgbClr val="FB9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4023359"/>
            <a:ext cx="10753344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FB923B"/>
                </a:solidFill>
                <a:latin typeface="Segoe UI"/>
              </a:rPr>
              <a:t>Đây là chìa khoá realtime:  </a:t>
            </a:r>
            <a:r>
              <a:rPr sz="1400" b="0">
                <a:solidFill>
                  <a:srgbClr val="EAF2FF"/>
                </a:solidFill>
                <a:latin typeface="Segoe UI"/>
              </a:rPr>
              <a:t>không cho mọi câu chạy qua LLM (mỗi lần ~0.8s).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EAF2FF"/>
                </a:solidFill>
                <a:latin typeface="Segoe UI"/>
              </a:rPr>
              <a:t>Né được LLM cho 82% câu = né được phần lớn độ trễ. Não AI chỉ gánh số ít câu khó nhất.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4652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FB3D1"/>
                </a:solidFill>
                <a:latin typeface="Segoe UI"/>
              </a:rPr>
              <a:t>GoVoice · HCMUTE · Kiến trúc &amp; Realtime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4652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FB3D1"/>
                </a:solidFill>
                <a:latin typeface="Segoe UI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★ CÁC MODEL SỬ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200" b="1">
                <a:solidFill>
                  <a:srgbClr val="EAF2FF"/>
                </a:solidFill>
                <a:latin typeface="Segoe UI"/>
              </a:rPr>
              <a:t>3 model nhỏ, mỗi model một việc — đều chạy </a:t>
            </a:r>
            <a:r>
              <a:rPr sz="2200" b="1">
                <a:solidFill>
                  <a:srgbClr val="22D3EE"/>
                </a:solidFill>
                <a:latin typeface="Segoe UI"/>
              </a:rPr>
              <a:t>offline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83080"/>
            <a:ext cx="2103120" cy="457200"/>
          </a:xfrm>
          <a:prstGeom prst="roundRect">
            <a:avLst/>
          </a:prstGeom>
          <a:solidFill>
            <a:srgbClr val="243456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810512"/>
            <a:ext cx="192023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22D3EE"/>
                </a:solidFill>
                <a:latin typeface="Segoe UI"/>
              </a:rPr>
              <a:t>Việc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70048" y="1783080"/>
            <a:ext cx="2651760" cy="457200"/>
          </a:xfrm>
          <a:prstGeom prst="roundRect">
            <a:avLst/>
          </a:prstGeom>
          <a:solidFill>
            <a:srgbClr val="243456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79776" y="1810512"/>
            <a:ext cx="24688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22D3EE"/>
                </a:solidFill>
                <a:latin typeface="Segoe UI"/>
              </a:rPr>
              <a:t>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21808" y="1783080"/>
            <a:ext cx="4114800" cy="457200"/>
          </a:xfrm>
          <a:prstGeom prst="roundRect">
            <a:avLst/>
          </a:prstGeom>
          <a:solidFill>
            <a:srgbClr val="243456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31536" y="1810512"/>
            <a:ext cx="39319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22D3EE"/>
                </a:solidFill>
                <a:latin typeface="Segoe UI"/>
              </a:rPr>
              <a:t>Chi tiết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36608" y="1783080"/>
            <a:ext cx="2286000" cy="457200"/>
          </a:xfrm>
          <a:prstGeom prst="roundRect">
            <a:avLst/>
          </a:prstGeom>
          <a:solidFill>
            <a:srgbClr val="243456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46336" y="1810512"/>
            <a:ext cx="21031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22D3EE"/>
                </a:solidFill>
                <a:latin typeface="Segoe UI"/>
              </a:rPr>
              <a:t>Chạy bằng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240280"/>
            <a:ext cx="2103120" cy="566928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2267712"/>
            <a:ext cx="192023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EAF2FF"/>
                </a:solidFill>
                <a:latin typeface="Segoe UI"/>
              </a:rPr>
              <a:t>🎤 Nghe (STT)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70048" y="2240280"/>
            <a:ext cx="2651760" cy="566928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79776" y="2267712"/>
            <a:ext cx="24688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2D3EE"/>
                </a:solidFill>
                <a:latin typeface="Segoe UI"/>
              </a:rPr>
              <a:t>Zipformer-VI 30M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21808" y="2240280"/>
            <a:ext cx="4114800" cy="566928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31536" y="2267712"/>
            <a:ext cx="39319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9FB3D1"/>
                </a:solidFill>
                <a:latin typeface="Segoe UI"/>
              </a:rPr>
              <a:t>ASR streaming tiếng Việt (~30M, Zipformer transducer)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36608" y="2240280"/>
            <a:ext cx="2286000" cy="566928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46336" y="2267712"/>
            <a:ext cx="21031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9FB3D1"/>
                </a:solidFill>
                <a:latin typeface="Segoe UI"/>
              </a:rPr>
              <a:t>sherpa-onnx (ONNX transducer, CPU) + hotwords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2843784"/>
            <a:ext cx="2103120" cy="566928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2871216"/>
            <a:ext cx="192023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EAF2FF"/>
                </a:solidFill>
                <a:latin typeface="Segoe UI"/>
              </a:rPr>
              <a:t>🧠 Nghĩ (LLM)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70048" y="2843784"/>
            <a:ext cx="2651760" cy="566928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79776" y="2871216"/>
            <a:ext cx="24688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2D3EE"/>
                </a:solidFill>
                <a:latin typeface="Segoe UI"/>
              </a:rPr>
              <a:t>Qwen2.5-1.5B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21808" y="2843784"/>
            <a:ext cx="4114800" cy="566928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31536" y="2871216"/>
            <a:ext cx="39319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9FB3D1"/>
                </a:solidFill>
                <a:latin typeface="Segoe UI"/>
              </a:rPr>
              <a:t>Đã fine-tune QLoRA → GGUF Q4_K_M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36608" y="2843784"/>
            <a:ext cx="2286000" cy="566928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46336" y="2871216"/>
            <a:ext cx="21031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9FB3D1"/>
                </a:solidFill>
                <a:latin typeface="Segoe UI"/>
              </a:rPr>
              <a:t>llama.cpp (llama-server)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3447288"/>
            <a:ext cx="2103120" cy="566928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" y="3474720"/>
            <a:ext cx="192023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EAF2FF"/>
                </a:solidFill>
                <a:latin typeface="Segoe UI"/>
              </a:rPr>
              <a:t>🔊 Nói (TTS)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70048" y="3447288"/>
            <a:ext cx="2651760" cy="566928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79776" y="3474720"/>
            <a:ext cx="24688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2D3EE"/>
                </a:solidFill>
                <a:latin typeface="Segoe UI"/>
              </a:rPr>
              <a:t>Piper · vi_VN-vais1000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21808" y="3447288"/>
            <a:ext cx="4114800" cy="566928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31536" y="3474720"/>
            <a:ext cx="39319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9FB3D1"/>
                </a:solidFill>
                <a:latin typeface="Segoe UI"/>
              </a:rPr>
              <a:t>Tổng hợp giọng tiếng Việt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447288"/>
            <a:ext cx="2286000" cy="566928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46336" y="3474720"/>
            <a:ext cx="21031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9FB3D1"/>
                </a:solidFill>
                <a:latin typeface="Segoe UI"/>
              </a:rPr>
              <a:t>Piper (streaming)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4050792"/>
            <a:ext cx="2103120" cy="566928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6656" y="4078224"/>
            <a:ext cx="192023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EAF2FF"/>
                </a:solidFill>
                <a:latin typeface="Segoe UI"/>
              </a:rPr>
              <a:t>✂️ Cắt câu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670048" y="4050792"/>
            <a:ext cx="2651760" cy="566928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79776" y="4078224"/>
            <a:ext cx="24688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9FB3D1"/>
                </a:solidFill>
                <a:latin typeface="Segoe UI"/>
              </a:rPr>
              <a:t>webrtcvad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21808" y="4050792"/>
            <a:ext cx="4114800" cy="566928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31536" y="4078224"/>
            <a:ext cx="39319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9FB3D1"/>
                </a:solidFill>
                <a:latin typeface="Segoe UI"/>
              </a:rPr>
              <a:t>Thuật toán (KHÔNG phải AI)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436608" y="4050792"/>
            <a:ext cx="2286000" cy="566928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46336" y="4078224"/>
            <a:ext cx="21031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9FB3D1"/>
                </a:solidFill>
                <a:latin typeface="Segoe UI"/>
              </a:rPr>
              <a:t>—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" y="4800600"/>
            <a:ext cx="11155680" cy="960120"/>
          </a:xfrm>
          <a:prstGeom prst="roundRect">
            <a:avLst/>
          </a:prstGeom>
          <a:solidFill>
            <a:srgbClr val="1C1530"/>
          </a:solidFill>
          <a:ln w="12700">
            <a:solidFill>
              <a:srgbClr val="FB9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8096" y="4892040"/>
            <a:ext cx="1075334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FB923B"/>
                </a:solidFill>
                <a:latin typeface="Segoe UI"/>
              </a:rPr>
              <a:t>Điểm nhấn:  </a:t>
            </a:r>
            <a:r>
              <a:rPr sz="1250" b="0">
                <a:solidFill>
                  <a:srgbClr val="EAF2FF"/>
                </a:solidFill>
                <a:latin typeface="Segoe UI"/>
              </a:rPr>
              <a:t>Phần lớn câu KHÔNG đụng model não (Qwen): lệnh giải bằng LUẬT, câu trò chuyện tra cứu FAQ ngữ nghĩa; Qwen chỉ gánh số ít câu khó nhất. Đây là "neuro-symbolic".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644652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FB3D1"/>
                </a:solidFill>
                <a:latin typeface="Segoe UI"/>
              </a:rPr>
              <a:t>GoVoice · HCMUTE · Kiến trúc &amp; Realtime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0" y="644652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FB3D1"/>
                </a:solidFill>
                <a:latin typeface="Segoe UI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★ KIẾN TRÚC &amp; LUỒNG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300" b="1">
                <a:solidFill>
                  <a:srgbClr val="EAF2FF"/>
                </a:solidFill>
                <a:latin typeface="Segoe UI"/>
              </a:rPr>
              <a:t>Một câu nói chảy qua hệ thống thế nào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37360"/>
            <a:ext cx="2651760" cy="777240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828800"/>
            <a:ext cx="254203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EAF2FF"/>
                </a:solidFill>
                <a:latin typeface="Segoe UI"/>
              </a:rPr>
              <a:t>🎤 Mic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FB3D1"/>
                </a:solidFill>
                <a:latin typeface="Segoe UI"/>
              </a:rPr>
              <a:t>webrtcvad cắt câu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1568" y="1737360"/>
            <a:ext cx="2651760" cy="777240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56432" y="1828800"/>
            <a:ext cx="254203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EAF2FF"/>
                </a:solidFill>
                <a:latin typeface="Segoe UI"/>
              </a:rPr>
              <a:t>📝 STT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FB3D1"/>
                </a:solidFill>
                <a:latin typeface="Segoe UI"/>
              </a:rPr>
              <a:t>Zipformer-VI · CPU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737360"/>
            <a:ext cx="2651760" cy="777240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1072" y="1828800"/>
            <a:ext cx="254203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EAF2FF"/>
                </a:solidFill>
                <a:latin typeface="Segoe UI"/>
              </a:rPr>
              <a:t>🔤 Chuẩn hóa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FB3D1"/>
                </a:solidFill>
                <a:latin typeface="Segoe UI"/>
              </a:rPr>
              <a:t>bỏ dấu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70848" y="1737360"/>
            <a:ext cx="2651760" cy="777240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25712" y="1828800"/>
            <a:ext cx="254203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EAF2FF"/>
                </a:solidFill>
                <a:latin typeface="Segoe UI"/>
              </a:rPr>
              <a:t>🚨 Emergency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FB3D1"/>
                </a:solidFill>
                <a:latin typeface="Segoe UI"/>
              </a:rPr>
              <a:t>"dừng lại"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65176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9FB3D1"/>
                </a:solidFill>
                <a:latin typeface="Segoe UI"/>
              </a:rPr>
              <a:t>↓ định tuyến — dừng ở tầng đầu tiên giải được 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063240"/>
            <a:ext cx="5486400" cy="777240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154680"/>
            <a:ext cx="537667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EAF2FF"/>
                </a:solidFill>
                <a:latin typeface="Segoe UI"/>
              </a:rPr>
              <a:t>⚡ Luật (Reflex+Combo) + FAQ ngữ nghĩa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FB3D1"/>
                </a:solidFill>
                <a:latin typeface="Segoe UI"/>
              </a:rPr>
              <a:t>phần lớn câu · ~ms · KHÔNG model não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3063240"/>
            <a:ext cx="5486400" cy="777240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FB9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3154680"/>
            <a:ext cx="537667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EAF2FF"/>
                </a:solidFill>
                <a:latin typeface="Segoe UI"/>
              </a:rPr>
              <a:t>🧠 LLM Qwen2.5-1.5B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FB3D1"/>
                </a:solidFill>
                <a:latin typeface="Segoe UI"/>
              </a:rPr>
              <a:t>18% câu · ~0.8s · GBNF ép JSON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160520"/>
            <a:ext cx="3291840" cy="777240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4251959"/>
            <a:ext cx="318211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EAF2FF"/>
                </a:solidFill>
                <a:latin typeface="Segoe UI"/>
              </a:rPr>
              <a:t>🧹 Verifier → 🛡️ Safety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FB3D1"/>
                </a:solidFill>
                <a:latin typeface="Segoe UI"/>
              </a:rPr>
              <a:t>lọc bịa + kẹp an toàn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41648" y="4160520"/>
            <a:ext cx="3291840" cy="777240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96511" y="4251959"/>
            <a:ext cx="318211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EAF2FF"/>
                </a:solidFill>
                <a:latin typeface="Segoe UI"/>
              </a:rPr>
              <a:t>⚙️ Async Executor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FB3D1"/>
                </a:solidFill>
                <a:latin typeface="Segoe UI"/>
              </a:rPr>
              <a:t>vừa làm vừa nghe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16368" y="4160520"/>
            <a:ext cx="2011680" cy="777240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71232" y="4251959"/>
            <a:ext cx="190195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EAF2FF"/>
                </a:solidFill>
                <a:latin typeface="Segoe UI"/>
              </a:rPr>
              <a:t>🦿 Robot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FB3D1"/>
                </a:solidFill>
                <a:latin typeface="Segoe UI"/>
              </a:rPr>
              <a:t>SportClient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10928" y="4160520"/>
            <a:ext cx="2011680" cy="777240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FB9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65792" y="4251959"/>
            <a:ext cx="190195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EAF2FF"/>
                </a:solidFill>
                <a:latin typeface="Segoe UI"/>
              </a:rPr>
              <a:t>🔊 Piper → loa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FB3D1"/>
                </a:solidFill>
                <a:latin typeface="Segoe U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1206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9FB3D1"/>
                </a:solidFill>
                <a:latin typeface="Segoe UI"/>
              </a:rPr>
              <a:t>Tất cả chạy trên Jetson trong robot; mic/loa robot ra-vào qua cầu WebRTC. Không bước nào gọi internet.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4652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FB3D1"/>
                </a:solidFill>
                <a:latin typeface="Segoe UI"/>
              </a:rPr>
              <a:t>GoVoice · HCMUTE · Kiến trúc &amp; Realtime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644652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FB3D1"/>
                </a:solidFill>
                <a:latin typeface="Segoe UI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TẦNG NGHE · STT (GIỜ RẤT NHANH ~0.1s)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400" b="1">
                <a:solidFill>
                  <a:srgbClr val="EAF2FF"/>
                </a:solidFill>
                <a:latin typeface="Segoe UI"/>
              </a:rPr>
              <a:t>Zipformer-VI 30M (sherpa-onnx) trên CPU: ~0.05–0.15s</a:t>
            </a:r>
            <a:r>
              <a:rPr sz="2400" b="1">
                <a:solidFill>
                  <a:srgbClr val="22D3EE"/>
                </a:solidFill>
                <a:latin typeface="Segoe U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6766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AF2FF"/>
                </a:solidFill>
                <a:latin typeface="Segoe UI"/>
              </a:rPr>
              <a:t>Zipformer-VI 30M </a:t>
            </a:r>
            <a:r>
              <a:rPr sz="1300" b="0">
                <a:solidFill>
                  <a:srgbClr val="9FB3D1"/>
                </a:solidFill>
                <a:latin typeface="Segoe UI"/>
              </a:rPr>
              <a:t>— ASR streaming tiếng Việt (sherpa-onnx).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AF2FF"/>
                </a:solidFill>
                <a:latin typeface="Segoe UI"/>
              </a:rPr>
              <a:t>Chạy thẳng trên CPU Jetson (int8) — nhẹ, không cần GPU cho STT.</a:t>
            </a:r>
            <a:r>
              <a:rPr sz="1300" b="0">
                <a:solidFill>
                  <a:srgbClr val="9FB3D1"/>
                </a:solidFill>
                <a:latin typeface="Segoe UI"/>
              </a:rPr>
              <a:t/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AF2FF"/>
                </a:solidFill>
                <a:latin typeface="Segoe UI"/>
              </a:rPr>
              <a:t>Hotwords mớm từ khóa lệnh + cổng biên độ thích nghi chống nhiễu mic.</a:t>
            </a:r>
            <a:r>
              <a:rPr sz="1300" b="0">
                <a:solidFill>
                  <a:srgbClr val="9FB3D1"/>
                </a:solidFill>
                <a:latin typeface="Segoe U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3749039"/>
            <a:ext cx="6766560" cy="1554480"/>
          </a:xfrm>
          <a:prstGeom prst="roundRect">
            <a:avLst/>
          </a:prstGeom>
          <a:solidFill>
            <a:srgbClr val="1C1530"/>
          </a:solidFill>
          <a:ln w="12700">
            <a:solidFill>
              <a:srgbClr val="FB9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3840479"/>
            <a:ext cx="6364224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FB923B"/>
                </a:solidFill>
                <a:latin typeface="Segoe UI"/>
              </a:rPr>
              <a:t>Vì sao NHANH? Transducer streaming xử lý theo luồng, không đợi cả cửa sổ 30s như Whisper.</a:t>
            </a:r>
            <a:r>
              <a:rPr sz="1250" b="0">
                <a:solidFill>
                  <a:srgbClr val="EAF2FF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AF2FF"/>
                </a:solidFill>
                <a:latin typeface="Segoe UI"/>
              </a:rPr>
              <a:t>~0.05–0.15s/câu — nhanh hơn 15× PhoWhisper cũ. STT KHÔNG còn là nút thắt nữa.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07808" y="1783080"/>
            <a:ext cx="4114800" cy="3520440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07808" y="20116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9FB3D1"/>
                </a:solidFill>
                <a:latin typeface="Segoe UI"/>
              </a:rPr>
              <a:t>Độ trễ STT / câu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2514600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2000" b="1">
                <a:solidFill>
                  <a:srgbClr val="F87171"/>
                </a:solidFill>
                <a:latin typeface="Segoe UI"/>
              </a:rPr>
              <a:t>PhoWhisper cũ 1.8s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3200400"/>
            <a:ext cx="4114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5200" b="1">
                <a:solidFill>
                  <a:srgbClr val="34D399"/>
                </a:solidFill>
                <a:latin typeface="Segoe UI"/>
              </a:rPr>
              <a:t>~0.1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07808" y="4526280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9FB3D1"/>
                </a:solidFill>
                <a:latin typeface="Segoe UI"/>
              </a:rPr>
              <a:t>CPU Jetson · Zipformer-VI 30M transducer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4652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FB3D1"/>
                </a:solidFill>
                <a:latin typeface="Segoe UI"/>
              </a:rPr>
              <a:t>GoVoice · HCMUTE · Kiến trúc &amp; Realtime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4652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FB3D1"/>
                </a:solidFill>
                <a:latin typeface="Segoe UI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NHẬN &amp; PHÂN TÍCH LỆNH (TÓM TẮT)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200" b="1">
                <a:solidFill>
                  <a:srgbClr val="EAF2FF"/>
                </a:solidFill>
                <a:latin typeface="Segoe UI"/>
              </a:rPr>
              <a:t>Nhận chữ → chia câu → khớp từng vế → ghép lệnh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6766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AF2FF"/>
                </a:solidFill>
                <a:latin typeface="Segoe UI"/>
              </a:rPr>
              <a:t>① Nhận </a:t>
            </a:r>
            <a:r>
              <a:rPr sz="1300" b="0">
                <a:solidFill>
                  <a:srgbClr val="9FB3D1"/>
                </a:solidFill>
                <a:latin typeface="Segoe UI"/>
              </a:rPr>
              <a:t>câu chữ đã bỏ dấu từ STT.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AF2FF"/>
                </a:solidFill>
                <a:latin typeface="Segoe UI"/>
              </a:rPr>
              <a:t>② Chia câu </a:t>
            </a:r>
            <a:r>
              <a:rPr sz="1300" b="0">
                <a:solidFill>
                  <a:srgbClr val="9FB3D1"/>
                </a:solidFill>
                <a:latin typeface="Segoe UI"/>
              </a:rPr>
              <a:t>tại từ nối: rồi / sau đó / tiếp theo / xong.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AF2FF"/>
                </a:solidFill>
                <a:latin typeface="Segoe UI"/>
              </a:rPr>
              <a:t>③ Phân tích từng vế: </a:t>
            </a:r>
            <a:r>
              <a:rPr sz="1300" b="0">
                <a:solidFill>
                  <a:srgbClr val="9FB3D1"/>
                </a:solidFill>
                <a:latin typeface="Segoe UI"/>
              </a:rPr>
              <a:t>động từ (đi/xoay), số + đơn vị (mét/giây/độ/vòng), hướng.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AF2FF"/>
                </a:solidFill>
                <a:latin typeface="Segoe UI"/>
              </a:rPr>
              <a:t>④ Ghép </a:t>
            </a:r>
            <a:r>
              <a:rPr sz="1300" b="0">
                <a:solidFill>
                  <a:srgbClr val="9FB3D1"/>
                </a:solidFill>
                <a:latin typeface="Segoe UI"/>
              </a:rPr>
              <a:t>thành chuỗi hành động đúng thứ tự.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297680"/>
            <a:ext cx="6766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9FB3D1"/>
                </a:solidFill>
                <a:latin typeface="Segoe UI"/>
              </a:rPr>
              <a:t>Nếu một vế không khớp luật → giao cả câu cho LLM (an toàn).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07808" y="1783080"/>
            <a:ext cx="4114800" cy="3017520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08976" y="1911095"/>
            <a:ext cx="371246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Ví dụ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08976" y="2441448"/>
            <a:ext cx="3712463" cy="224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>
                <a:solidFill>
                  <a:srgbClr val="9FB3D1"/>
                </a:solidFill>
                <a:latin typeface="Segoe UI"/>
              </a:rPr>
              <a:t>•  "đi thẳng 3 mét rồi xoay phải"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>
                <a:solidFill>
                  <a:srgbClr val="9FB3D1"/>
                </a:solidFill>
                <a:latin typeface="Segoe UI"/>
              </a:rPr>
              <a:t>•  ↓ chia 2 vế ↓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>
                <a:solidFill>
                  <a:srgbClr val="9FB3D1"/>
                </a:solidFill>
                <a:latin typeface="Segoe UI"/>
              </a:rPr>
              <a:t>•  đi thẳng 3 mét → move (3÷0.5=6s)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>
                <a:solidFill>
                  <a:srgbClr val="9FB3D1"/>
                </a:solidFill>
                <a:latin typeface="Segoe UI"/>
              </a:rPr>
              <a:t>•  xoay phải → spin 90°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>
                <a:solidFill>
                  <a:srgbClr val="9FB3D1"/>
                </a:solidFill>
                <a:latin typeface="Segoe UI"/>
              </a:rPr>
              <a:t>•  ⏱ ~1–10 ms · không cần 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29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9FB3D1"/>
                </a:solidFill>
                <a:latin typeface="Segoe UI"/>
              </a:rPr>
              <a:t>(Chi tiết quy tắc — bỏ dấu, chẻ lệnh, từ chối — em sẽ nói thêm khi trình bày.)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4652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FB3D1"/>
                </a:solidFill>
                <a:latin typeface="Segoe UI"/>
              </a:rPr>
              <a:t>GoVoice · HCMUTE · Kiến trúc &amp; Realtime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44652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FB3D1"/>
                </a:solidFill>
                <a:latin typeface="Segoe UI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TẦNG NÃO · 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200" b="1">
                <a:solidFill>
                  <a:srgbClr val="EAF2FF"/>
                </a:solidFill>
                <a:latin typeface="Segoe UI"/>
              </a:rPr>
              <a:t>Qwen2.5-1.5B fine-tune + </a:t>
            </a:r>
            <a:r>
              <a:rPr sz="2200" b="1">
                <a:solidFill>
                  <a:srgbClr val="22D3EE"/>
                </a:solidFill>
                <a:latin typeface="Segoe UI"/>
              </a:rPr>
              <a:t>ép JSON</a:t>
            </a:r>
            <a:r>
              <a:rPr sz="2200" b="1">
                <a:solidFill>
                  <a:srgbClr val="EAF2FF"/>
                </a:solidFill>
                <a:latin typeface="Segoe UI"/>
              </a:rPr>
              <a:t> cho 18% câu khó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83080"/>
            <a:ext cx="3611880" cy="2194560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911095"/>
            <a:ext cx="32095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🧠 Model nhỏ chuyên việc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441448"/>
            <a:ext cx="3209544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>
                <a:solidFill>
                  <a:srgbClr val="9FB3D1"/>
                </a:solidFill>
                <a:latin typeface="Segoe UI"/>
              </a:rPr>
              <a:t>•  Qwen2.5-1.5B, fine-tune QLoRA 4-bit. Đủ nhỏ on-board, đủ giỏi vì chỉ làm 1 việc: sinh JSON lệnh.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783080"/>
            <a:ext cx="3611880" cy="2194560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7136" y="1911095"/>
            <a:ext cx="32095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📐 GBNF Grammar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7136" y="2441448"/>
            <a:ext cx="3209544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>
                <a:solidFill>
                  <a:srgbClr val="9FB3D1"/>
                </a:solidFill>
                <a:latin typeface="Segoe UI"/>
              </a:rPr>
              <a:t>•  Ép sinh JSON đúng schema → không lỗi parse, không lệnh rác, ít token → nhanh hơn.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1783080"/>
            <a:ext cx="3657600" cy="2194560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911095"/>
            <a:ext cx="32552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🗄️ cache_prompt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441448"/>
            <a:ext cx="3255264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>
                <a:solidFill>
                  <a:srgbClr val="9FB3D1"/>
                </a:solidFill>
                <a:latin typeface="Segoe UI"/>
              </a:rPr>
              <a:t>•  Giữ KV-cache system prompt → mỗi câu chỉ xử lý phần mới.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251960"/>
            <a:ext cx="11155680" cy="1280160"/>
          </a:xfrm>
          <a:prstGeom prst="roundRect">
            <a:avLst/>
          </a:prstGeom>
          <a:solidFill>
            <a:srgbClr val="1C1530"/>
          </a:solidFill>
          <a:ln w="12700">
            <a:solidFill>
              <a:srgbClr val="FB9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4343400"/>
            <a:ext cx="10753344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FB923B"/>
                </a:solidFill>
                <a:latin typeface="Segoe UI"/>
              </a:rPr>
              <a:t>Vì sao 1.5B mà đủ? </a:t>
            </a:r>
            <a:r>
              <a:rPr sz="1300" b="0">
                <a:solidFill>
                  <a:srgbClr val="EAF2FF"/>
                </a:solidFill>
                <a:latin typeface="Segoe UI"/>
              </a:rPr>
              <a:t>Việc rất hẹp (câu Việt → JSON lệnh) + fine-tune đúng phân phối →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EAF2FF"/>
                </a:solidFill>
                <a:latin typeface="Segoe UI"/>
              </a:rPr>
              <a:t>không cần model lớn. → chạy lọt Jetson, ~0.8–3s/câu, và chỉ số ít câu khó phải dùng — giờ LLM là phần chậm nhất.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4652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FB3D1"/>
                </a:solidFill>
                <a:latin typeface="Segoe UI"/>
              </a:rPr>
              <a:t>GoVoice · HCMUTE · Kiến trúc &amp; Realtime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44652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FB3D1"/>
                </a:solidFill>
                <a:latin typeface="Segoe UI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TẦNG NÓI · TTS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400" b="1">
                <a:solidFill>
                  <a:srgbClr val="EAF2FF"/>
                </a:solidFill>
                <a:latin typeface="Segoe UI"/>
              </a:rPr>
              <a:t>Piper </a:t>
            </a:r>
            <a:r>
              <a:rPr sz="2400" b="1">
                <a:solidFill>
                  <a:srgbClr val="22D3EE"/>
                </a:solidFill>
                <a:latin typeface="Segoe UI"/>
              </a:rPr>
              <a:t>streaming</a:t>
            </a:r>
            <a:r>
              <a:rPr sz="2400" b="1">
                <a:solidFill>
                  <a:srgbClr val="EAF2FF"/>
                </a:solidFill>
                <a:latin typeface="Segoe UI"/>
              </a:rPr>
              <a:t>: phát tiếng sau ~100ms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28800"/>
            <a:ext cx="6766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EAF2FF"/>
                </a:solidFill>
                <a:latin typeface="Segoe UI"/>
              </a:rPr>
              <a:t>Piper </a:t>
            </a:r>
            <a:r>
              <a:rPr sz="1300" b="0">
                <a:solidFill>
                  <a:srgbClr val="9FB3D1"/>
                </a:solidFill>
                <a:latin typeface="Segoe UI"/>
              </a:rPr>
              <a:t>giọng vi_VN-vais1000-medium — tổng hợp tiếng Việt, nhẹ.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EAF2FF"/>
                </a:solidFill>
                <a:latin typeface="Segoe UI"/>
              </a:rPr>
              <a:t>Vừa sinh vừa phát </a:t>
            </a:r>
            <a:r>
              <a:rPr sz="1300" b="0">
                <a:solidFill>
                  <a:srgbClr val="9FB3D1"/>
                </a:solidFill>
                <a:latin typeface="Segoe UI"/>
              </a:rPr>
              <a:t>từng đoạn: ra tiếng sau ~100ms, KHÔNG đợi sinh hết câu.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>
                <a:solidFill>
                  <a:srgbClr val="9FB3D1"/>
                </a:solidFill>
                <a:latin typeface="Segoe UI"/>
              </a:rPr>
              <a:t>•  Câu dài cỡ nào, tiếng vẫn bật ra gần như ngay lập tức.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>
                <a:solidFill>
                  <a:srgbClr val="9FB3D1"/>
                </a:solidFill>
                <a:latin typeface="Segoe UI"/>
              </a:rPr>
              <a:t>•  Tiếng đi ra loa robot qua cầu WebRTC.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07808" y="1828800"/>
            <a:ext cx="4114800" cy="2743200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7808" y="210312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9FB3D1"/>
                </a:solidFill>
                <a:latin typeface="Segoe UI"/>
              </a:rPr>
              <a:t>Time-to-first-sound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2651760"/>
            <a:ext cx="4114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4600" b="1">
                <a:solidFill>
                  <a:srgbClr val="22D3EE"/>
                </a:solidFill>
                <a:latin typeface="Segoe UI"/>
              </a:rPr>
              <a:t>~100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393192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9FB3D1"/>
                </a:solidFill>
                <a:latin typeface="Segoe UI"/>
              </a:rPr>
              <a:t>phát ngay, không đợi cả câu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4652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FB3D1"/>
                </a:solidFill>
                <a:latin typeface="Segoe UI"/>
              </a:rPr>
              <a:t>GoVoice · HCMUTE · Kiến trúc &amp; Realtime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4652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FB3D1"/>
                </a:solidFill>
                <a:latin typeface="Segoe UI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★ CHIẾN LƯỢC REALTIME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400" b="1">
                <a:solidFill>
                  <a:srgbClr val="EAF2FF"/>
                </a:solidFill>
                <a:latin typeface="Segoe UI"/>
              </a:rPr>
              <a:t>6 đòn cắt độ trễ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83080"/>
            <a:ext cx="3520440" cy="1463040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911095"/>
            <a:ext cx="31181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34D399"/>
                </a:solidFill>
                <a:latin typeface="Segoe UI"/>
              </a:rPr>
              <a:t>1 · STT streaming (CPU)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441448"/>
            <a:ext cx="311810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>
                <a:solidFill>
                  <a:srgbClr val="9FB3D1"/>
                </a:solidFill>
                <a:latin typeface="Segoe UI"/>
              </a:rPr>
              <a:t>•  Zipformer-VI transducer (sherpa-onnx) trên CPU: ~1.8s → ~0.1s. Xóa nút thắt STT.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8536" y="1783080"/>
            <a:ext cx="3520440" cy="1463040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9704" y="1911095"/>
            <a:ext cx="31181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34D399"/>
                </a:solidFill>
                <a:latin typeface="Segoe UI"/>
              </a:rPr>
              <a:t>2 · Né LLM (luật + FAQ)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9704" y="2441448"/>
            <a:ext cx="311810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>
                <a:solidFill>
                  <a:srgbClr val="9FB3D1"/>
                </a:solidFill>
                <a:latin typeface="Segoe UI"/>
              </a:rPr>
              <a:t>•  Luật + FAQ ngữ nghĩa giải ~ms thay vì ~1s. Né LLM cho phần lớn câu.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783080"/>
            <a:ext cx="3520440" cy="1463040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911095"/>
            <a:ext cx="31181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34D399"/>
                </a:solidFill>
                <a:latin typeface="Segoe UI"/>
              </a:rPr>
              <a:t>3 · GBNF ít token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2441448"/>
            <a:ext cx="311810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>
                <a:solidFill>
                  <a:srgbClr val="9FB3D1"/>
                </a:solidFill>
                <a:latin typeface="Segoe UI"/>
              </a:rPr>
              <a:t>•  Output JSON ngắn → LLM sinh ít token → nhanh hơn khi buộc dùng.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383280"/>
            <a:ext cx="3520440" cy="1463040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3511296"/>
            <a:ext cx="31181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34D399"/>
                </a:solidFill>
                <a:latin typeface="Segoe UI"/>
              </a:rPr>
              <a:t>4 · cache_prompt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4041648"/>
            <a:ext cx="311810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>
                <a:solidFill>
                  <a:srgbClr val="9FB3D1"/>
                </a:solidFill>
                <a:latin typeface="Segoe UI"/>
              </a:rPr>
              <a:t>•  Bỏ chi phí lặp lại system prompt dài mỗi câu.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88536" y="3383280"/>
            <a:ext cx="3520440" cy="1463040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9704" y="3511296"/>
            <a:ext cx="31181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34D399"/>
                </a:solidFill>
                <a:latin typeface="Segoe UI"/>
              </a:rPr>
              <a:t>5 · TTS streaming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9704" y="4041648"/>
            <a:ext cx="311810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>
                <a:solidFill>
                  <a:srgbClr val="9FB3D1"/>
                </a:solidFill>
                <a:latin typeface="Segoe UI"/>
              </a:rPr>
              <a:t>•  Phát tiếng sau 100ms, không đợi sinh hết câu.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3383280"/>
            <a:ext cx="3520440" cy="1463040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1312" y="3511296"/>
            <a:ext cx="31181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34D399"/>
                </a:solidFill>
                <a:latin typeface="Segoe UI"/>
              </a:rPr>
              <a:t>6 · Async execution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4041648"/>
            <a:ext cx="311810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>
                <a:solidFill>
                  <a:srgbClr val="9FB3D1"/>
                </a:solidFill>
                <a:latin typeface="Segoe UI"/>
              </a:rPr>
              <a:t>•  Robot làm song song lúc nghe câu kế → giảm ~30% chuỗi lệnh.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029200"/>
            <a:ext cx="11155680" cy="777240"/>
          </a:xfrm>
          <a:prstGeom prst="roundRect">
            <a:avLst/>
          </a:prstGeom>
          <a:solidFill>
            <a:srgbClr val="1C1530"/>
          </a:solidFill>
          <a:ln w="12700">
            <a:solidFill>
              <a:srgbClr val="FB9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5120640"/>
            <a:ext cx="10753344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FB923B"/>
                </a:solidFill>
                <a:latin typeface="Segoe UI"/>
              </a:rPr>
              <a:t>Triết lý: </a:t>
            </a:r>
            <a:r>
              <a:rPr sz="1250" b="0">
                <a:solidFill>
                  <a:srgbClr val="EAF2FF"/>
                </a:solidFill>
                <a:latin typeface="Segoe UI"/>
              </a:rPr>
              <a:t>mỗi tầng đều hỏi "có cách nào không phải đợi không?" — GPU thay CPU, luật thay LLM, streaming thay batch, song song thay tuần tự.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4652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FB3D1"/>
                </a:solidFill>
                <a:latin typeface="Segoe UI"/>
              </a:rPr>
              <a:t>GoVoice · HCMUTE · Kiến trúc &amp; Realtime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44652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FB3D1"/>
                </a:solidFill>
                <a:latin typeface="Segoe UI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★★★ SỐ LIỆU ĐỘ TRỄ — TỪNG TẦNG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400" b="1">
                <a:solidFill>
                  <a:srgbClr val="EAF2FF"/>
                </a:solidFill>
                <a:latin typeface="Segoe UI"/>
              </a:rPr>
              <a:t>Từ lúc nói xong → Gô bắt đầu đáp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37360"/>
            <a:ext cx="5852160" cy="457200"/>
          </a:xfrm>
          <a:prstGeom prst="roundRect">
            <a:avLst/>
          </a:prstGeom>
          <a:solidFill>
            <a:srgbClr val="243456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764792"/>
            <a:ext cx="56692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22D3EE"/>
                </a:solidFill>
                <a:latin typeface="Segoe UI"/>
              </a:rPr>
              <a:t>Giai đoạn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19088" y="1737360"/>
            <a:ext cx="3108960" cy="457200"/>
          </a:xfrm>
          <a:prstGeom prst="roundRect">
            <a:avLst/>
          </a:prstGeom>
          <a:solidFill>
            <a:srgbClr val="243456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28816" y="1764792"/>
            <a:ext cx="29260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22D3EE"/>
                </a:solidFill>
                <a:latin typeface="Segoe UI"/>
              </a:rPr>
              <a:t>Bộ phận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28048" y="1737360"/>
            <a:ext cx="2194560" cy="457200"/>
          </a:xfrm>
          <a:prstGeom prst="roundRect">
            <a:avLst/>
          </a:prstGeom>
          <a:solidFill>
            <a:srgbClr val="243456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37776" y="1764792"/>
            <a:ext cx="20116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22D3EE"/>
                </a:solidFill>
                <a:latin typeface="Segoe UI"/>
              </a:rPr>
              <a:t>Thời gian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94560"/>
            <a:ext cx="5852160" cy="475488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2221991"/>
            <a:ext cx="56692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AF2FF"/>
                </a:solidFill>
                <a:latin typeface="Segoe UI"/>
              </a:rPr>
              <a:t>1. Cắt câu (đợi im lặng)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19088" y="2194560"/>
            <a:ext cx="3108960" cy="475488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28816" y="2221991"/>
            <a:ext cx="292607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9FB3D1"/>
                </a:solidFill>
                <a:latin typeface="Segoe UI"/>
              </a:rPr>
              <a:t>webrtcvad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28048" y="2194560"/>
            <a:ext cx="2194560" cy="475488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37776" y="2221991"/>
            <a:ext cx="201167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AF2FF"/>
                </a:solidFill>
                <a:latin typeface="Segoe UI"/>
              </a:rPr>
              <a:t>~220 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697480"/>
            <a:ext cx="5852160" cy="475488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2724912"/>
            <a:ext cx="56692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AF2FF"/>
                </a:solidFill>
                <a:latin typeface="Segoe UI"/>
              </a:rPr>
              <a:t>2. Nhận dạng giọng nói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19088" y="2697480"/>
            <a:ext cx="3108960" cy="475488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28816" y="2724912"/>
            <a:ext cx="292607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9FB3D1"/>
                </a:solidFill>
                <a:latin typeface="Segoe UI"/>
              </a:rPr>
              <a:t>Zipformer-VI 30M (CPU)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28048" y="2697480"/>
            <a:ext cx="2194560" cy="475488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37776" y="2724912"/>
            <a:ext cx="201167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F87171"/>
                </a:solidFill>
                <a:latin typeface="Segoe UI"/>
              </a:rPr>
              <a:t>~100 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200400"/>
            <a:ext cx="5852160" cy="475488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3227832"/>
            <a:ext cx="56692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AF2FF"/>
                </a:solidFill>
                <a:latin typeface="Segoe UI"/>
              </a:rPr>
              <a:t>3a. Luật + FAQ (phần lớn câu)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19088" y="3200400"/>
            <a:ext cx="3108960" cy="475488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28816" y="3227832"/>
            <a:ext cx="292607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9FB3D1"/>
                </a:solidFill>
                <a:latin typeface="Segoe UI"/>
              </a:rPr>
              <a:t>Reflex + Combo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8048" y="3200400"/>
            <a:ext cx="2194560" cy="475488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37776" y="3227832"/>
            <a:ext cx="201167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4D399"/>
                </a:solidFill>
                <a:latin typeface="Segoe UI"/>
              </a:rPr>
              <a:t>~1–10 ms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3703320"/>
            <a:ext cx="5852160" cy="475488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" y="3730752"/>
            <a:ext cx="56692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AF2FF"/>
                </a:solidFill>
                <a:latin typeface="Segoe UI"/>
              </a:rPr>
              <a:t>3b. Lập kế hoạch — LLM (18%)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19088" y="3703320"/>
            <a:ext cx="3108960" cy="475488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28816" y="3730752"/>
            <a:ext cx="292607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9FB3D1"/>
                </a:solidFill>
                <a:latin typeface="Segoe UI"/>
              </a:rPr>
              <a:t>Qwen2.5-1.5B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28048" y="3703320"/>
            <a:ext cx="2194560" cy="475488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37776" y="3730752"/>
            <a:ext cx="201167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AF2FF"/>
                </a:solidFill>
                <a:latin typeface="Segoe UI"/>
              </a:rPr>
              <a:t>~780 ms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4206240"/>
            <a:ext cx="5852160" cy="475488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6" y="4233672"/>
            <a:ext cx="56692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AF2FF"/>
                </a:solidFill>
                <a:latin typeface="Segoe UI"/>
              </a:rPr>
              <a:t>4. Phát tiếng đầu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19088" y="4206240"/>
            <a:ext cx="3108960" cy="475488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28816" y="4233672"/>
            <a:ext cx="292607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9FB3D1"/>
                </a:solidFill>
                <a:latin typeface="Segoe UI"/>
              </a:rPr>
              <a:t>Piper (streaming)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28048" y="4206240"/>
            <a:ext cx="2194560" cy="475488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37776" y="4233672"/>
            <a:ext cx="201167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AF2FF"/>
                </a:solidFill>
                <a:latin typeface="Segoe UI"/>
              </a:rPr>
              <a:t>~100 ms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4754879"/>
            <a:ext cx="5852160" cy="475488"/>
          </a:xfrm>
          <a:prstGeom prst="roundRect">
            <a:avLst/>
          </a:prstGeom>
          <a:solidFill>
            <a:srgbClr val="13301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6656" y="4782312"/>
            <a:ext cx="56692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34D399"/>
                </a:solidFill>
                <a:latin typeface="Segoe UI"/>
              </a:rPr>
              <a:t>TỔNG — câu thường (82%, không LLM)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19088" y="4754879"/>
            <a:ext cx="3108960" cy="475488"/>
          </a:xfrm>
          <a:prstGeom prst="roundRect">
            <a:avLst/>
          </a:prstGeom>
          <a:solidFill>
            <a:srgbClr val="13301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28816" y="4782312"/>
            <a:ext cx="292607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34D399"/>
                </a:solidFill>
                <a:latin typeface="Segoe UI"/>
              </a:rPr>
              <a:t/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528048" y="4754879"/>
            <a:ext cx="2194560" cy="475488"/>
          </a:xfrm>
          <a:prstGeom prst="roundRect">
            <a:avLst/>
          </a:prstGeom>
          <a:solidFill>
            <a:srgbClr val="13301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37776" y="4782312"/>
            <a:ext cx="201167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34D399"/>
                </a:solidFill>
                <a:latin typeface="Segoe UI"/>
              </a:rPr>
              <a:t>≈ 0.4 giây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66928" y="5321807"/>
            <a:ext cx="5852160" cy="475488"/>
          </a:xfrm>
          <a:prstGeom prst="roundRect">
            <a:avLst/>
          </a:prstGeom>
          <a:solidFill>
            <a:srgbClr val="2A1A10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6656" y="5349240"/>
            <a:ext cx="56692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FB923B"/>
                </a:solidFill>
                <a:latin typeface="Segoe UI"/>
              </a:rPr>
              <a:t>TỔNG — câu khó (18%, có LLM)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19088" y="5321807"/>
            <a:ext cx="3108960" cy="475488"/>
          </a:xfrm>
          <a:prstGeom prst="roundRect">
            <a:avLst/>
          </a:prstGeom>
          <a:solidFill>
            <a:srgbClr val="2A1A10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28816" y="5349240"/>
            <a:ext cx="292607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FB923B"/>
                </a:solidFill>
                <a:latin typeface="Segoe UI"/>
              </a:rPr>
              <a:t/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528048" y="5321807"/>
            <a:ext cx="2194560" cy="475488"/>
          </a:xfrm>
          <a:prstGeom prst="roundRect">
            <a:avLst/>
          </a:prstGeom>
          <a:solidFill>
            <a:srgbClr val="2A1A10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37776" y="5349240"/>
            <a:ext cx="201167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FB923B"/>
                </a:solidFill>
                <a:latin typeface="Segoe UI"/>
              </a:rPr>
              <a:t>≈ 1–3 giây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" y="598932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9FB3D1"/>
                </a:solidFill>
                <a:latin typeface="Segoe UI"/>
              </a:rPr>
              <a:t>🦿 Robot bắt đầu cử động song song với lúc Gô nói (async) — không cộng dồn thêm.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44652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FB3D1"/>
                </a:solidFill>
                <a:latin typeface="Segoe UI"/>
              </a:rPr>
              <a:t>GoVoice · HCMUTE · Kiến trúc &amp; Realtime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41280" y="644652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FB3D1"/>
                </a:solidFill>
                <a:latin typeface="Segoe UI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★★ TIMELINE END-TO-END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100" b="1">
                <a:solidFill>
                  <a:srgbClr val="EAF2FF"/>
                </a:solidFill>
                <a:latin typeface="Segoe UI"/>
              </a:rPr>
              <a:t>LLM giờ là phần chậm nhất — phần còn lại gần như "miễn phí"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9FB3D1"/>
                </a:solidFill>
                <a:latin typeface="Segoe UI"/>
              </a:rPr>
              <a:t>Câu thường (không LLM) — tổng ≈ 0.4 giây: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194560"/>
            <a:ext cx="1350687" cy="868680"/>
          </a:xfrm>
          <a:prstGeom prst="roundRect">
            <a:avLst/>
          </a:prstGeom>
          <a:solidFill>
            <a:srgbClr val="475569"/>
          </a:solidFill>
          <a:ln w="12700">
            <a:solidFill>
              <a:srgbClr val="0B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304288"/>
            <a:ext cx="1350687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0B1020"/>
                </a:solidFill>
                <a:latin typeface="Segoe UI"/>
              </a:rPr>
              <a:t>VAD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0B1020"/>
                </a:solidFill>
                <a:latin typeface="Segoe UI"/>
              </a:rPr>
              <a:t>220ms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17615" y="2194560"/>
            <a:ext cx="9004584" cy="868680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0B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17615" y="2304288"/>
            <a:ext cx="900458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0B1020"/>
                </a:solidFill>
                <a:latin typeface="Segoe UI"/>
              </a:rPr>
              <a:t>STT — Zipformer CPU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0B1020"/>
                </a:solidFill>
                <a:latin typeface="Segoe UI"/>
              </a:rPr>
              <a:t>~100ms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22200" y="2194560"/>
            <a:ext cx="300152" cy="868680"/>
          </a:xfrm>
          <a:prstGeom prst="roundRect">
            <a:avLst/>
          </a:prstGeom>
          <a:solidFill>
            <a:srgbClr val="34D399"/>
          </a:solidFill>
          <a:ln w="12700">
            <a:solidFill>
              <a:srgbClr val="0B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222353" y="2194560"/>
            <a:ext cx="500254" cy="868680"/>
          </a:xfrm>
          <a:prstGeom prst="roundRect">
            <a:avLst/>
          </a:prstGeom>
          <a:solidFill>
            <a:srgbClr val="FB923B"/>
          </a:solidFill>
          <a:ln w="12700">
            <a:solidFill>
              <a:srgbClr val="0B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429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9FB3D1"/>
                </a:solidFill>
                <a:latin typeface="Segoe UI"/>
              </a:rPr>
              <a:t>Câu khó (có LLM Qwen) — tổng ≈ 1–3 giây: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840480"/>
            <a:ext cx="1021028" cy="868680"/>
          </a:xfrm>
          <a:prstGeom prst="roundRect">
            <a:avLst/>
          </a:prstGeom>
          <a:solidFill>
            <a:srgbClr val="475569"/>
          </a:solidFill>
          <a:ln w="12700">
            <a:solidFill>
              <a:srgbClr val="0B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950208"/>
            <a:ext cx="102102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0B1020"/>
                </a:solidFill>
                <a:latin typeface="Segoe UI"/>
              </a:rPr>
              <a:t>VAD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0B1020"/>
                </a:solidFill>
                <a:latin typeface="Segoe UI"/>
              </a:rPr>
              <a:t>220ms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87956" y="3840480"/>
            <a:ext cx="6806855" cy="868680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0B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87956" y="3950208"/>
            <a:ext cx="68068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0B1020"/>
                </a:solidFill>
                <a:latin typeface="Segoe UI"/>
              </a:rPr>
              <a:t>STT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0B1020"/>
                </a:solidFill>
                <a:latin typeface="Segoe UI"/>
              </a:rPr>
              <a:t>~100ms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94811" y="3840480"/>
            <a:ext cx="2949637" cy="868680"/>
          </a:xfrm>
          <a:prstGeom prst="roundRect">
            <a:avLst/>
          </a:prstGeom>
          <a:solidFill>
            <a:srgbClr val="A78BFA"/>
          </a:solidFill>
          <a:ln w="12700">
            <a:solidFill>
              <a:srgbClr val="0B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811" y="3950208"/>
            <a:ext cx="2949637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0B1020"/>
                </a:solidFill>
                <a:latin typeface="Segoe UI"/>
              </a:rPr>
              <a:t>LLM Qwen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0B1020"/>
                </a:solidFill>
                <a:latin typeface="Segoe UI"/>
              </a:rPr>
              <a:t>780ms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344449" y="3840480"/>
            <a:ext cx="378158" cy="868680"/>
          </a:xfrm>
          <a:prstGeom prst="roundRect">
            <a:avLst/>
          </a:prstGeom>
          <a:solidFill>
            <a:srgbClr val="FB923B"/>
          </a:solidFill>
          <a:ln w="12700">
            <a:solidFill>
              <a:srgbClr val="0B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66928" y="5029200"/>
            <a:ext cx="11155680" cy="868680"/>
          </a:xfrm>
          <a:prstGeom prst="roundRect">
            <a:avLst/>
          </a:prstGeom>
          <a:solidFill>
            <a:srgbClr val="1C1530"/>
          </a:solidFill>
          <a:ln w="12700">
            <a:solidFill>
              <a:srgbClr val="FB9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5120640"/>
            <a:ext cx="1075334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FB923B"/>
                </a:solidFill>
                <a:latin typeface="Segoe UI"/>
              </a:rPr>
              <a:t>Kết luận: STT đã hết là nút thắt (~0.1s). Muốn nhanh hơn nữa phải tấn công LLM: model nhỏ hơn hoặc mở rộng luật + FAQ để bớt câu qua LLM.</a:t>
            </a:r>
            <a:r>
              <a:rPr sz="1250" b="0">
                <a:solidFill>
                  <a:srgbClr val="EAF2FF"/>
                </a:solidFill>
                <a:latin typeface="Segoe U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4652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FB3D1"/>
                </a:solidFill>
                <a:latin typeface="Segoe UI"/>
              </a:rPr>
              <a:t>GoVoice · HCMUTE · Kiến trúc &amp; Realtime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44652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FB3D1"/>
                </a:solidFill>
                <a:latin typeface="Segoe UI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THỰC THI REALTIME + AN TOÀN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400" b="1">
                <a:solidFill>
                  <a:srgbClr val="EAF2FF"/>
                </a:solidFill>
                <a:latin typeface="Segoe UI"/>
              </a:rPr>
              <a:t>Vừa làm vừa nghe, và luôn </a:t>
            </a:r>
            <a:r>
              <a:rPr sz="2400" b="1">
                <a:solidFill>
                  <a:srgbClr val="34D399"/>
                </a:solidFill>
                <a:latin typeface="Segoe UI"/>
              </a:rPr>
              <a:t>an toàn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83080"/>
            <a:ext cx="5486400" cy="2468880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911095"/>
            <a:ext cx="50840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⚙️ Async Executor (SmolVLA)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441448"/>
            <a:ext cx="508406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>
                <a:solidFill>
                  <a:srgbClr val="9FB3D1"/>
                </a:solidFill>
                <a:latin typeface="Segoe UI"/>
              </a:rPr>
              <a:t>•  Hành động chạy thread riêng + hàng đợi.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>
                <a:solidFill>
                  <a:srgbClr val="9FB3D1"/>
                </a:solidFill>
                <a:latin typeface="Segoe UI"/>
              </a:rPr>
              <a:t>•  Vòng chính vẫn nghe + STT câu kế → robot không "điếc".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>
                <a:solidFill>
                  <a:srgbClr val="9FB3D1"/>
                </a:solidFill>
                <a:latin typeface="Segoe UI"/>
              </a:rPr>
              <a:t>•  Giảm ~30% chuỗi lệnh; phanh khẩn cấp chèn ngang.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783080"/>
            <a:ext cx="5486400" cy="2468880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7376" y="1911095"/>
            <a:ext cx="50840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34D399"/>
                </a:solidFill>
                <a:latin typeface="Segoe UI"/>
              </a:rPr>
              <a:t>🛡️ Safety Guard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7376" y="2441448"/>
            <a:ext cx="508406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>
                <a:solidFill>
                  <a:srgbClr val="9FB3D1"/>
                </a:solidFill>
                <a:latin typeface="Segoe UI"/>
              </a:rPr>
              <a:t>•  Kẹp vận tốc/thời gian (cấu hình được; đã nới cho đi mượt, bỏ cap 50cm).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>
                <a:solidFill>
                  <a:srgbClr val="9FB3D1"/>
                </a:solidFill>
                <a:latin typeface="Segoe UI"/>
              </a:rPr>
              <a:t>•  Chặn lộn nhào (flip); đã mở khóa đứng 2 chân / trồng chuối / bật tới theo yêu cầu.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>
                <a:solidFill>
                  <a:srgbClr val="9FB3D1"/>
                </a:solidFill>
                <a:latin typeface="Segoe UI"/>
              </a:rPr>
              <a:t>•  Tự đứng dậy trước khi đi; "dừng lại" ưu tiên tuyệt đối.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526280"/>
            <a:ext cx="11155680" cy="1005840"/>
          </a:xfrm>
          <a:prstGeom prst="roundRect">
            <a:avLst/>
          </a:prstGeom>
          <a:solidFill>
            <a:srgbClr val="1C1530"/>
          </a:solidFill>
          <a:ln w="12700">
            <a:solidFill>
              <a:srgbClr val="FB9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4617720"/>
            <a:ext cx="1075334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FB923B"/>
                </a:solidFill>
                <a:latin typeface="Segoe UI"/>
              </a:rPr>
              <a:t>Vì sao tách thực thi ra thread riêng? </a:t>
            </a:r>
            <a:r>
              <a:rPr sz="1250" b="0">
                <a:solidFill>
                  <a:srgbClr val="EAF2FF"/>
                </a:solidFill>
                <a:latin typeface="Segoe UI"/>
              </a:rPr>
              <a:t>Để bước "nghe + nghĩ" (nghe + STT + LLM) KHÔNG bị khoá lúc robot đang cử động → mượt, realtime.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4652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FB3D1"/>
                </a:solidFill>
                <a:latin typeface="Segoe UI"/>
              </a:rPr>
              <a:t>GoVoice · HCMUTE · Kiến trúc &amp; Realtime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4652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FB3D1"/>
                </a:solidFill>
                <a:latin typeface="Segoe UI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HUẤN LUYỆN MODEL NÃO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300" b="1">
                <a:solidFill>
                  <a:srgbClr val="EAF2FF"/>
                </a:solidFill>
                <a:latin typeface="Segoe UI"/>
              </a:rPr>
              <a:t>Fine-tune Qwen trên dataset </a:t>
            </a:r>
            <a:r>
              <a:rPr sz="2300" b="1">
                <a:solidFill>
                  <a:srgbClr val="22D3EE"/>
                </a:solidFill>
                <a:latin typeface="Segoe UI"/>
              </a:rPr>
              <a:t>tự sinh, tái lập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83080"/>
            <a:ext cx="5486400" cy="2377440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911095"/>
            <a:ext cx="50840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🔧 QLoRA 4-bit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441448"/>
            <a:ext cx="508406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>
                <a:solidFill>
                  <a:srgbClr val="9FB3D1"/>
                </a:solidFill>
                <a:latin typeface="Segoe UI"/>
              </a:rPr>
              <a:t>•  Train adapter nhỏ trên 1 GPU RTX 4060 (~70 phút). Merge → GGUF Q4_K_M chạy Jetson.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>
                <a:solidFill>
                  <a:srgbClr val="9FB3D1"/>
                </a:solidFill>
                <a:latin typeface="Segoe UI"/>
              </a:rPr>
              <a:t>•  Qwen gốc 5.7% → fine-tune 61.7%.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783080"/>
            <a:ext cx="5486400" cy="2377440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7376" y="1911095"/>
            <a:ext cx="50840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📦 Dataset (~4.700 mẫu)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7376" y="2441448"/>
            <a:ext cx="508406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>
                <a:solidFill>
                  <a:srgbClr val="9FB3D1"/>
                </a:solidFill>
                <a:latin typeface="Segoe UI"/>
              </a:rPr>
              <a:t>•  Sinh bằng luật, seed cố định (tái lập 100%). Nhãn vàng dùng đúng quy ước tốc độ + cùng prompt như lúc chạy. Augment "mất dấu" mô phỏng lỗi STT.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434840"/>
            <a:ext cx="11155680" cy="1005840"/>
          </a:xfrm>
          <a:prstGeom prst="roundRect">
            <a:avLst/>
          </a:prstGeom>
          <a:solidFill>
            <a:srgbClr val="1C1530"/>
          </a:solidFill>
          <a:ln w="12700">
            <a:solidFill>
              <a:srgbClr val="FB9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4526279"/>
            <a:ext cx="1075334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FB923B"/>
                </a:solidFill>
                <a:latin typeface="Segoe UI"/>
              </a:rPr>
              <a:t>Mấu chốt: </a:t>
            </a:r>
            <a:r>
              <a:rPr sz="1250" b="0">
                <a:solidFill>
                  <a:srgbClr val="EAF2FF"/>
                </a:solidFill>
                <a:latin typeface="Segoe UI"/>
              </a:rPr>
              <a:t>model học đúng "luật chơi" hệ thống thực thi (vx=0.35, schema JSON, chẻ lệnh) → không lệch giữa train và chạy.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4652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FB3D1"/>
                </a:solidFill>
                <a:latin typeface="Segoe UI"/>
              </a:rPr>
              <a:t>GoVoice · HCMUTE · Kiến trúc &amp; Realtime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4652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FB3D1"/>
                </a:solidFill>
                <a:latin typeface="Segoe UI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KẾT QUẢ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400" b="1">
                <a:solidFill>
                  <a:srgbClr val="EAF2FF"/>
                </a:solidFill>
                <a:latin typeface="Segoe UI"/>
              </a:rPr>
              <a:t>Độ chính xác &amp; phân bổ tải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28800"/>
            <a:ext cx="4572000" cy="502920"/>
          </a:xfrm>
          <a:prstGeom prst="roundRect">
            <a:avLst/>
          </a:prstGeom>
          <a:solidFill>
            <a:srgbClr val="243456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856231"/>
            <a:ext cx="4389120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22D3EE"/>
                </a:solidFill>
                <a:latin typeface="Segoe UI"/>
              </a:rPr>
              <a:t>Cấu hình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38928" y="1828800"/>
            <a:ext cx="1280160" cy="502920"/>
          </a:xfrm>
          <a:prstGeom prst="roundRect">
            <a:avLst/>
          </a:prstGeom>
          <a:solidFill>
            <a:srgbClr val="243456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48656" y="1856231"/>
            <a:ext cx="1097280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22D3EE"/>
                </a:solidFill>
                <a:latin typeface="Segoe UI"/>
              </a:rPr>
              <a:t>Đúng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331720"/>
            <a:ext cx="4572000" cy="530352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2359151"/>
            <a:ext cx="43891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AF2FF"/>
                </a:solidFill>
                <a:latin typeface="Segoe UI"/>
              </a:rPr>
              <a:t>Qwen gốc + few-shot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38928" y="2331720"/>
            <a:ext cx="1280160" cy="530352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48656" y="2359151"/>
            <a:ext cx="10972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F87171"/>
                </a:solidFill>
                <a:latin typeface="Segoe UI"/>
              </a:rPr>
              <a:t>5.7%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898648"/>
            <a:ext cx="4572000" cy="530352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2926079"/>
            <a:ext cx="43891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AF2FF"/>
                </a:solidFill>
                <a:latin typeface="Segoe UI"/>
              </a:rPr>
              <a:t>+ Fine-tune (LLM thuần)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38928" y="2898648"/>
            <a:ext cx="1280160" cy="530352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48656" y="2926079"/>
            <a:ext cx="10972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FB923B"/>
                </a:solidFill>
                <a:latin typeface="Segoe UI"/>
              </a:rPr>
              <a:t>61.7%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465576"/>
            <a:ext cx="4572000" cy="530352"/>
          </a:xfrm>
          <a:prstGeom prst="roundRect">
            <a:avLst/>
          </a:prstGeom>
          <a:solidFill>
            <a:srgbClr val="13301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3493008"/>
            <a:ext cx="43891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34D399"/>
                </a:solidFill>
                <a:latin typeface="Segoe UI"/>
              </a:rPr>
              <a:t>Full system (Luật + LLM + Verifier)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38928" y="3465576"/>
            <a:ext cx="1280160" cy="530352"/>
          </a:xfrm>
          <a:prstGeom prst="roundRect">
            <a:avLst/>
          </a:prstGeom>
          <a:solidFill>
            <a:srgbClr val="13301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48656" y="3493008"/>
            <a:ext cx="10972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34D399"/>
                </a:solidFill>
                <a:latin typeface="Segoe UI"/>
              </a:rPr>
              <a:t>91.0%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206240"/>
            <a:ext cx="5852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9FB3D1"/>
                </a:solidFill>
                <a:latin typeface="Segoe UI"/>
              </a:rPr>
              <a:t>Fine-tune +56đ · kiến trúc neuro-symbolic +29.3đ (gần ngang nhau).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1783080"/>
            <a:ext cx="5120640" cy="3200400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1965960"/>
            <a:ext cx="5120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4600" b="1">
                <a:solidFill>
                  <a:srgbClr val="22D3EE"/>
                </a:solidFill>
                <a:latin typeface="Segoe UI"/>
              </a:rPr>
              <a:t>82%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97180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9FB3D1"/>
                </a:solidFill>
                <a:latin typeface="Segoe UI"/>
              </a:rPr>
              <a:t>câu giải bằng LUẬT (~0.07ms, không LLM)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365760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EAF2FF"/>
                </a:solidFill>
                <a:latin typeface="Segoe UI"/>
              </a:rPr>
              <a:t>📊 Định tuyến 300 câu: Combo 222 · Reflex 23 · LLM 55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41605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EAF2FF"/>
                </a:solidFill>
                <a:latin typeface="Segoe UI"/>
              </a:rPr>
              <a:t>⏱ LLM tb 780ms · p95 1197ms · STT 1.8s · TTS 100ms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4652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FB3D1"/>
                </a:solidFill>
                <a:latin typeface="Segoe UI"/>
              </a:rPr>
              <a:t>GoVoice · HCMUTE · Kiến trúc &amp; Realtime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644652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FB3D1"/>
                </a:solidFill>
                <a:latin typeface="Segoe UI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KẾT LUẬN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100" b="1">
                <a:solidFill>
                  <a:srgbClr val="34D399"/>
                </a:solidFill>
                <a:latin typeface="Segoe UI"/>
              </a:rPr>
              <a:t>Đúng</a:t>
            </a:r>
            <a:r>
              <a:rPr sz="2100" b="1">
                <a:solidFill>
                  <a:srgbClr val="EAF2FF"/>
                </a:solidFill>
                <a:latin typeface="Segoe UI"/>
              </a:rPr>
              <a:t> bằng luật · </a:t>
            </a:r>
            <a:r>
              <a:rPr sz="2100" b="1">
                <a:solidFill>
                  <a:srgbClr val="22D3EE"/>
                </a:solidFill>
                <a:latin typeface="Segoe UI"/>
              </a:rPr>
              <a:t>Nhanh</a:t>
            </a:r>
            <a:r>
              <a:rPr sz="2100" b="1">
                <a:solidFill>
                  <a:srgbClr val="EAF2FF"/>
                </a:solidFill>
                <a:latin typeface="Segoe UI"/>
              </a:rPr>
              <a:t> bằng định tuyến + GPU · </a:t>
            </a:r>
            <a:r>
              <a:rPr sz="2100" b="1">
                <a:solidFill>
                  <a:srgbClr val="FB923B"/>
                </a:solidFill>
                <a:latin typeface="Segoe UI"/>
              </a:rPr>
              <a:t>Linh hoạt</a:t>
            </a:r>
            <a:r>
              <a:rPr sz="2100" b="1">
                <a:solidFill>
                  <a:srgbClr val="EAF2FF"/>
                </a:solidFill>
                <a:latin typeface="Segoe UI"/>
              </a:rPr>
              <a:t> bằng LLM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74519"/>
            <a:ext cx="5486400" cy="2926080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2002536"/>
            <a:ext cx="50840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34D399"/>
                </a:solidFill>
                <a:latin typeface="Segoe UI"/>
              </a:rPr>
              <a:t>✓ Đạt được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532887"/>
            <a:ext cx="5084064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50">
                <a:solidFill>
                  <a:srgbClr val="9FB3D1"/>
                </a:solidFill>
                <a:latin typeface="Segoe UI"/>
              </a:rPr>
              <a:t>•  3 model nhỏ (Zipformer-VI · Qwen2.5-1.5B · Piper) chạy 100% on-board.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50">
                <a:solidFill>
                  <a:srgbClr val="9FB3D1"/>
                </a:solidFill>
                <a:latin typeface="Segoe UI"/>
              </a:rPr>
              <a:t>•  Phản hồi ≈ 0.4s (câu thường) / 1–3s (câu khó).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50">
                <a:solidFill>
                  <a:srgbClr val="9FB3D1"/>
                </a:solidFill>
                <a:latin typeface="Segoe UI"/>
              </a:rPr>
              <a:t>•  91% chính xác · 82% câu không cần LLM.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874519"/>
            <a:ext cx="5486400" cy="2926080"/>
          </a:xfrm>
          <a:prstGeom prst="roundRect">
            <a:avLst/>
          </a:prstGeom>
          <a:solidFill>
            <a:srgbClr val="16213F"/>
          </a:solidFill>
          <a:ln w="12700">
            <a:solidFill>
              <a:srgbClr val="24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7376" y="2002536"/>
            <a:ext cx="50840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B923B"/>
                </a:solidFill>
                <a:latin typeface="Segoe UI"/>
              </a:rPr>
              <a:t>→ Hướng tăng tốc tiếp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7376" y="2532887"/>
            <a:ext cx="5084064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50">
                <a:solidFill>
                  <a:srgbClr val="9FB3D1"/>
                </a:solidFill>
                <a:latin typeface="Segoe UI"/>
              </a:rPr>
              <a:t>•  STT đã nhanh (~0.1s, Zipformer transducer) — giờ tối ưu LLM + mic tốt hơn.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50">
                <a:solidFill>
                  <a:srgbClr val="9FB3D1"/>
                </a:solidFill>
                <a:latin typeface="Segoe UI"/>
              </a:rPr>
              <a:t>•  Thử Qwen 0.5B → LLM nhanh ~2×.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50">
                <a:solidFill>
                  <a:srgbClr val="9FB3D1"/>
                </a:solidFill>
                <a:latin typeface="Segoe UI"/>
              </a:rPr>
              <a:t>•  Nâng cấp mic (lavalier/headset) + mở rộng tri thức FAQ để trò chuyện tốt hơn.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4652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FB3D1"/>
                </a:solidFill>
                <a:latin typeface="Segoe UI"/>
              </a:rPr>
              <a:t>GoVoice · HCMUTE · Kiến trúc &amp; Realtime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44652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FB3D1"/>
                </a:solidFill>
                <a:latin typeface="Segoe UI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8288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4800" b="1">
                <a:solidFill>
                  <a:srgbClr val="EAF2FF"/>
                </a:solidFill>
                <a:latin typeface="Segoe UI"/>
              </a:rPr>
              <a:t>🐕💬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8346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3800" b="1">
                <a:solidFill>
                  <a:srgbClr val="EAF2FF"/>
                </a:solidFill>
                <a:latin typeface="Segoe UI"/>
              </a:rPr>
              <a:t>Cảm ơn đã lắng nghe!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9319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700" b="0">
                <a:solidFill>
                  <a:srgbClr val="9FB3D1"/>
                </a:solidFill>
                <a:latin typeface="Segoe UI"/>
              </a:rPr>
              <a:t>GoVoice — on-board · luật + FAQ + LLM · phản hồi ~0.4 giây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029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Zipformer-VI · Qwen2.5-1.5B · Piper — 100% local · điều khiển + trò chuyện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